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1" autoAdjust="0"/>
    <p:restoredTop sz="94675" autoAdjust="0"/>
  </p:normalViewPr>
  <p:slideViewPr>
    <p:cSldViewPr snapToGrid="0" snapToObjects="1">
      <p:cViewPr varScale="1">
        <p:scale>
          <a:sx n="84" d="100"/>
          <a:sy n="84" d="100"/>
        </p:scale>
        <p:origin x="624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/>
              <a:t>Estimated AI Adoption Trend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 Adoption (%)</c:v>
                </c:pt>
              </c:strCache>
            </c:strRef>
          </c:tx>
          <c:invertIfNegative val="1"/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</c:v>
                </c:pt>
                <c:pt idx="1">
                  <c:v>30</c:v>
                </c:pt>
                <c:pt idx="2">
                  <c:v>42</c:v>
                </c:pt>
                <c:pt idx="3">
                  <c:v>55</c:v>
                </c:pt>
                <c:pt idx="4">
                  <c:v>68</c:v>
                </c:pt>
                <c:pt idx="5">
                  <c:v>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54-45D3-B7F7-6A8D69F534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(%)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1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E49B-429B-9A02-4770C2EEE241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2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3-E49B-429B-9A02-4770C2EEE241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3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5-E49B-429B-9A02-4770C2EEE241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4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7-E49B-429B-9A02-4770C2EEE241}"/>
              </c:ext>
            </c:extLst>
          </c:dPt>
          <c:dPt>
            <c:idx val="4"/>
            <c:bubble3D val="0"/>
            <c:spPr>
              <a:gradFill rotWithShape="1">
                <a:gsLst>
                  <a:gs pos="0">
                    <a:schemeClr val="accent5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5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9-E49B-429B-9A02-4770C2EEE241}"/>
              </c:ext>
            </c:extLst>
          </c:dPt>
          <c:dPt>
            <c:idx val="5"/>
            <c:bubble3D val="0"/>
            <c:spPr>
              <a:gradFill rotWithShape="1">
                <a:gsLst>
                  <a:gs pos="0">
                    <a:schemeClr val="accent6">
                      <a:tint val="100000"/>
                      <a:shade val="100000"/>
                      <a:satMod val="130000"/>
                    </a:schemeClr>
                  </a:gs>
                  <a:gs pos="100000">
                    <a:schemeClr val="accent6">
                      <a:tint val="50000"/>
                      <a:shade val="100000"/>
                      <a:satMod val="350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B-E49B-429B-9A02-4770C2EEE24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Healthcare</c:v>
                </c:pt>
                <c:pt idx="1">
                  <c:v>Education</c:v>
                </c:pt>
                <c:pt idx="2">
                  <c:v>Banking</c:v>
                </c:pt>
                <c:pt idx="3">
                  <c:v>Transportation</c:v>
                </c:pt>
                <c:pt idx="4">
                  <c:v>Entertainment</c:v>
                </c:pt>
                <c:pt idx="5">
                  <c:v>Manufacturing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</c:v>
                </c:pt>
                <c:pt idx="1">
                  <c:v>20</c:v>
                </c:pt>
                <c:pt idx="2">
                  <c:v>20</c:v>
                </c:pt>
                <c:pt idx="3">
                  <c:v>15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E49B-429B-9A02-4770C2EEE241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4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806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Features demonstrated: background template/theme, title design, image/graphic, header/footer concept. Suggested animation: Fade title and robot graphic. Suggested transition: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Features demonstrated: bullets, graphic/image area, animation suggestion (Appear for each bullet), and slide transition (Push/Fade).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Features demonstrated: table. Suggested animation: Wipe table rows. Suggested transition: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Features demonstrated: chart/graph and timing. Data is illustrative for classroom demonstration, not an official industry statistic. Set this slide to advance automatically after 8 seconds using Transitions &gt; Advance Slide &gt; After 00:08.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Features demonstrated: bullets, hyperlink (Learn More button), audio placeholder/icon, background theme, footer and slide number. Add a short MP3/WAV using Insert &gt; Audio if your lab requires embedded sound. Suggested animation: Fade the conclusion card. Suggested transition: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14EF5-9BB0-4D75-96A1-324642EB99F9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Ankita | GR9306 | 26CAMSAG160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chimes.wav"/>
          </p:stSnd>
        </p:sndAc>
      </p:transition>
    </mc:Choice>
    <mc:Fallback xmlns="">
      <p:transition spd="slow">
        <p:sndAc>
          <p:stSnd>
            <p:snd r:embed="rId3" name="chimes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46EE7-B99C-4AA0-ACC3-2BA5C61A719F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Ankita | GR9306 | 26CAMSAG160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chimes.wav"/>
          </p:stSnd>
        </p:sndAc>
      </p:transition>
    </mc:Choice>
    <mc:Fallback xmlns="">
      <p:transition spd="slow">
        <p:sndAc>
          <p:stSnd>
            <p:snd r:embed="rId3" name="chimes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997EF-1847-40B8-B7F1-2B42D5BDD382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Ankita | GR9306 | 26CAMSAG160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chimes.wav"/>
          </p:stSnd>
        </p:sndAc>
      </p:transition>
    </mc:Choice>
    <mc:Fallback xmlns="">
      <p:transition spd="slow">
        <p:sndAc>
          <p:stSnd>
            <p:snd r:embed="rId3" name="chimes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BCCFD-92EA-4E5B-8C1F-BBF5FFF24746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Ankita | GR9306 | 26CAMSAG160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chimes.wav"/>
          </p:stSnd>
        </p:sndAc>
      </p:transition>
    </mc:Choice>
    <mc:Fallback xmlns="">
      <p:transition spd="slow">
        <p:sndAc>
          <p:stSnd>
            <p:snd r:embed="rId3" name="chimes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E9E19-7154-48DB-BF27-2068A7733920}" type="datetime1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Ankita | GR9306 | 26CAMSAG160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chimes.wav"/>
          </p:stSnd>
        </p:sndAc>
      </p:transition>
    </mc:Choice>
    <mc:Fallback xmlns="">
      <p:transition spd="slow">
        <p:sndAc>
          <p:stSnd>
            <p:snd r:embed="rId3" name="chimes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7B13-D179-4076-A6A7-F412E461D257}" type="datetime1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Ankita | GR9306 | 26CAMSAG160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chimes.wav"/>
          </p:stSnd>
        </p:sndAc>
      </p:transition>
    </mc:Choice>
    <mc:Fallback xmlns="">
      <p:transition spd="slow">
        <p:sndAc>
          <p:stSnd>
            <p:snd r:embed="rId3" name="chimes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F8891-E30B-4BAD-AD0F-20AD4467B717}" type="datetime1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Ankita | GR9306 | 26CAMSAG160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chimes.wav"/>
          </p:stSnd>
        </p:sndAc>
      </p:transition>
    </mc:Choice>
    <mc:Fallback xmlns="">
      <p:transition spd="slow">
        <p:sndAc>
          <p:stSnd>
            <p:snd r:embed="rId3" name="chimes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465D8-719A-4120-8A1C-1E7B66629F67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Ankita | GR9306 | 26CAMSAG160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chimes.wav"/>
          </p:stSnd>
        </p:sndAc>
      </p:transition>
    </mc:Choice>
    <mc:Fallback xmlns="">
      <p:transition spd="slow">
        <p:sndAc>
          <p:stSnd>
            <p:snd r:embed="rId3" name="chimes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79EFE-CD5D-40C7-9CA2-3BCE7698C410}" type="datetime1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Ankita | GR9306 | 26CAMSAG160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chimes.wav"/>
          </p:stSnd>
        </p:sndAc>
      </p:transition>
    </mc:Choice>
    <mc:Fallback xmlns="">
      <p:transition spd="slow">
        <p:sndAc>
          <p:stSnd>
            <p:snd r:embed="rId3" name="chimes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83CBE-C97D-4161-A961-969CA79165A6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Ankita | GR9306 | 26CAMSAG160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chimes.wav"/>
          </p:stSnd>
        </p:sndAc>
      </p:transition>
    </mc:Choice>
    <mc:Fallback xmlns="">
      <p:transition spd="slow">
        <p:sndAc>
          <p:stSnd>
            <p:snd r:embed="rId3" name="chimes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948E0-EFBA-4BAC-9114-F6CE2DDF8A07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Ankita | GR9306 | 26CAMSAG160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" name="chimes.wav"/>
          </p:stSnd>
        </p:sndAc>
      </p:transition>
    </mc:Choice>
    <mc:Fallback xmlns="">
      <p:transition spd="slow">
        <p:sndAc>
          <p:stSnd>
            <p:snd r:embed="rId3" name="chimes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89B36-3948-4C6E-8B21-B4E9082F05CC}" type="datetime1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Ankita | GR9306 | 26CAMSAG160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13" name="chimes.wav"/>
          </p:stSnd>
        </p:sndAc>
      </p:transition>
    </mc:Choice>
    <mc:Fallback xmlns="">
      <p:transition spd="slow">
        <p:sndAc>
          <p:stSnd>
            <p:snd r:embed="rId14" name="chimes.wav"/>
          </p:stSnd>
        </p:sndAc>
      </p:transition>
    </mc:Fallback>
  </mc:AlternateContent>
  <p:hf sldNum="0"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7" Type="http://schemas.openxmlformats.org/officeDocument/2006/relationships/audio" Target="../media/audio2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jp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microsoft.com/office/2007/relationships/hdphoto" Target="../media/hdphoto2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1.wav"/><Relationship Id="rId5" Type="http://schemas.microsoft.com/office/2007/relationships/hdphoto" Target="../media/hdphoto3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audio" Target="../media/audio1.wav"/><Relationship Id="rId7" Type="http://schemas.openxmlformats.org/officeDocument/2006/relationships/hyperlink" Target="https://en.wikipedia.org/wiki/Artificial_intelligence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2.xml"/><Relationship Id="rId5" Type="http://schemas.microsoft.com/office/2007/relationships/hdphoto" Target="../media/hdphoto4.wdp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1AE85610-8832-D784-462F-113C9EBAD74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4D93"/>
              </a:clrFrom>
              <a:clrTo>
                <a:srgbClr val="004D93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pattFill prst="pct5">
            <a:fgClr>
              <a:schemeClr val="bg1">
                <a:lumMod val="95000"/>
              </a:schemeClr>
            </a:fgClr>
            <a:bgClr>
              <a:schemeClr val="bg1"/>
            </a:bgClr>
          </a:pattFill>
        </p:spPr>
      </p:pic>
      <p:sp>
        <p:nvSpPr>
          <p:cNvPr id="6" name="TextBox 5"/>
          <p:cNvSpPr txBox="1"/>
          <p:nvPr/>
        </p:nvSpPr>
        <p:spPr>
          <a:xfrm>
            <a:off x="1344168" y="868680"/>
            <a:ext cx="36545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D6A64C"/>
                </a:solidFill>
              </a:defRPr>
            </a:pPr>
            <a:r>
              <a:rPr dirty="0">
                <a:latin typeface="Bell MT" panose="02020503060305020303" pitchFamily="18" charset="0"/>
              </a:rPr>
              <a:t>The Future of Technology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F04C78-992B-1E30-0E96-902D61D7497F}"/>
              </a:ext>
            </a:extLst>
          </p:cNvPr>
          <p:cNvSpPr/>
          <p:nvPr/>
        </p:nvSpPr>
        <p:spPr>
          <a:xfrm>
            <a:off x="1061731" y="1330345"/>
            <a:ext cx="4219425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ARTIFICIAL </a:t>
            </a:r>
          </a:p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INTELLIGENCE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A11A56-34EA-0253-58B4-304BA374C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7557E-A6CC-4E8B-96E4-88649F82B3F2}" type="datetime1">
              <a:rPr lang="en-US" smtClean="0">
                <a:solidFill>
                  <a:schemeClr val="bg1"/>
                </a:solidFill>
              </a:rPr>
              <a:t>8/20/2026</a:t>
            </a:fld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 descr="Artificial Intelligence: Shaping a More Efficient and Effective Future in  Healthcare - Hospital Magazine - Leading Healthcare Magazine in the Middle  East">
            <a:extLst>
              <a:ext uri="{FF2B5EF4-FFF2-40B4-BE49-F238E27FC236}">
                <a16:creationId xmlns:a16="http://schemas.microsoft.com/office/drawing/2014/main" id="{4DBEB738-2B0A-EE1E-B2AA-B8EA8DD834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12" y="3622833"/>
            <a:ext cx="1995037" cy="29160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191A03B-85FA-F93F-08F4-695E79910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Ankita | GR9306 | 26CAMSAG160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3" name="drumroll.wav"/>
          </p:stSnd>
        </p:sndAc>
      </p:transition>
    </mc:Choice>
    <mc:Fallback xmlns="">
      <p:transition spd="slow">
        <p:split orient="vert"/>
        <p:sndAc>
          <p:stSnd>
            <p:snd r:embed="rId7" name="drumroll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C07564B-9282-BAA8-3ABF-25F59A7076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65000" contrast="-3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207240" cy="6950583"/>
          </a:xfrm>
          <a:prstGeom prst="rect">
            <a:avLst/>
          </a:prstGeom>
          <a:pattFill prst="trellis">
            <a:fgClr>
              <a:schemeClr val="bg1">
                <a:lumMod val="50000"/>
              </a:schemeClr>
            </a:fgClr>
            <a:bgClr>
              <a:schemeClr val="bg1"/>
            </a:bgClr>
          </a:pattFill>
        </p:spPr>
      </p:pic>
      <p:sp>
        <p:nvSpPr>
          <p:cNvPr id="2" name="TextBox 1"/>
          <p:cNvSpPr txBox="1"/>
          <p:nvPr/>
        </p:nvSpPr>
        <p:spPr>
          <a:xfrm>
            <a:off x="640080" y="411480"/>
            <a:ext cx="544200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1"/>
                </a:solidFill>
              </a:defRPr>
            </a:pPr>
            <a:r>
              <a:rPr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 panose="02020503060305020303" pitchFamily="18" charset="0"/>
              </a:rPr>
              <a:t>What is Artificial Intelligence?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261366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8"/>
                </a:solidFill>
              </a:defRPr>
            </a:pPr>
            <a:r>
              <a:rPr dirty="0">
                <a:solidFill>
                  <a:schemeClr val="bg1"/>
                </a:solidFill>
              </a:rPr>
              <a:t>Understanding AI in simple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444752"/>
            <a:ext cx="649224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D37"/>
                </a:solidFill>
              </a:defRPr>
            </a:pPr>
            <a:r>
              <a:rPr dirty="0">
                <a:solidFill>
                  <a:schemeClr val="bg2">
                    <a:lumMod val="9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AI enables computers and machines to perform tasks that normally require human intelligence.</a:t>
            </a:r>
            <a:endParaRPr lang="en-IN" dirty="0">
              <a:solidFill>
                <a:schemeClr val="bg2">
                  <a:lumMod val="9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D37"/>
                </a:solidFill>
              </a:defRPr>
            </a:pPr>
            <a:r>
              <a:rPr dirty="0">
                <a:solidFill>
                  <a:schemeClr val="bg2">
                    <a:lumMod val="9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AI can learn from data, recognize patterns, understand language and support decision-making.</a:t>
            </a:r>
            <a:endParaRPr lang="en-IN" dirty="0">
              <a:solidFill>
                <a:schemeClr val="bg2">
                  <a:lumMod val="9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D37"/>
                </a:solidFill>
              </a:defRPr>
            </a:pPr>
            <a:r>
              <a:rPr dirty="0">
                <a:solidFill>
                  <a:schemeClr val="bg2">
                    <a:lumMod val="9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Examples include chatbots, voice assistants, recommendation systems and self-driving technology.</a:t>
            </a:r>
            <a:endParaRPr lang="en-IN" dirty="0">
              <a:solidFill>
                <a:schemeClr val="bg2">
                  <a:lumMod val="9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800">
                <a:solidFill>
                  <a:srgbClr val="232D37"/>
                </a:solidFill>
              </a:defRPr>
            </a:pPr>
            <a:r>
              <a:rPr dirty="0">
                <a:solidFill>
                  <a:schemeClr val="bg2">
                    <a:lumMod val="9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AI is widely used in healthcare, education, banking, business and transportation.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554480"/>
            <a:ext cx="3474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35240" y="1554480"/>
            <a:ext cx="73152" cy="1097280"/>
          </a:xfrm>
          <a:prstGeom prst="rect">
            <a:avLst/>
          </a:prstGeom>
          <a:solidFill>
            <a:srgbClr val="1C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36408" y="17190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1"/>
                </a:solidFill>
              </a:defRPr>
            </a:pPr>
            <a:r>
              <a:rPr dirty="0"/>
              <a:t>LEARN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36408" y="2121408"/>
            <a:ext cx="310896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AI learns patterns from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834640"/>
            <a:ext cx="3474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35240" y="2834640"/>
            <a:ext cx="73152" cy="1097280"/>
          </a:xfrm>
          <a:prstGeom prst="rect">
            <a:avLst/>
          </a:prstGeom>
          <a:solidFill>
            <a:srgbClr val="D6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36408" y="299923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1"/>
                </a:solidFill>
              </a:defRPr>
            </a:pPr>
            <a:r>
              <a:rPr dirty="0"/>
              <a:t>THINK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36408" y="3401568"/>
            <a:ext cx="310896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AI analyzes information and predicts outcomes.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4114800"/>
            <a:ext cx="34747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635240" y="4114800"/>
            <a:ext cx="73152" cy="1097280"/>
          </a:xfrm>
          <a:prstGeom prst="rect">
            <a:avLst/>
          </a:prstGeom>
          <a:solidFill>
            <a:srgbClr val="1C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6408" y="427939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1"/>
                </a:solidFill>
              </a:defRPr>
            </a:pPr>
            <a:r>
              <a:t>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8" y="4681728"/>
            <a:ext cx="310896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AI helps automate tasks and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D6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2D41"/>
                </a:solidFill>
              </a:defRPr>
            </a:pPr>
            <a:r>
              <a:t>2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E62B944-C86D-890B-BA9A-448BFC33D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A5508-8CDA-4F33-842E-567051414A6D}" type="datetime1">
              <a:rPr lang="en-US" smtClean="0">
                <a:solidFill>
                  <a:schemeClr val="bg1"/>
                </a:solidFill>
              </a:rPr>
              <a:t>8/20/2026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6F46332B-C10F-DE8B-0578-97320AC1C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Ankita | GR9306 | 26CAMSAG160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3" name="chimes.wav"/>
          </p:stSnd>
        </p:sndAc>
      </p:transition>
    </mc:Choice>
    <mc:Fallback xmlns="">
      <p:transition spd="slow">
        <p:split orient="vert"/>
        <p:sndAc>
          <p:stSnd>
            <p:snd r:embed="rId6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Widescreen background for a PowerPoint presentation on Generative AI in  Quantitative Finance on Craiyon">
            <a:extLst>
              <a:ext uri="{FF2B5EF4-FFF2-40B4-BE49-F238E27FC236}">
                <a16:creationId xmlns:a16="http://schemas.microsoft.com/office/drawing/2014/main" id="{AD129D2B-1485-7EB3-6A8A-C5C4A4D6CB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14000"/>
                    </a14:imgEffect>
                    <a14:imgEffect>
                      <a14:brightnessContrast bright="74000" contrast="-6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1"/>
                </a:solidFill>
              </a:defRPr>
            </a:pPr>
            <a:r>
              <a:t>Applications of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899" y="5434789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rPr dirty="0"/>
              <a:t>MCA I SEMESTER – LAB I  |  Fundamentals of IT: MS PowerPoint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2D41"/>
                </a:solidFill>
              </a:defRPr>
            </a:pPr>
            <a:r>
              <a:t>3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40BB21B-6F54-F8A0-E7CA-D50C383AC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939378"/>
              </p:ext>
            </p:extLst>
          </p:nvPr>
        </p:nvGraphicFramePr>
        <p:xfrm>
          <a:off x="802104" y="1423211"/>
          <a:ext cx="9930064" cy="471289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482516">
                  <a:extLst>
                    <a:ext uri="{9D8B030D-6E8A-4147-A177-3AD203B41FA5}">
                      <a16:colId xmlns:a16="http://schemas.microsoft.com/office/drawing/2014/main" val="179367418"/>
                    </a:ext>
                  </a:extLst>
                </a:gridCol>
                <a:gridCol w="2482516">
                  <a:extLst>
                    <a:ext uri="{9D8B030D-6E8A-4147-A177-3AD203B41FA5}">
                      <a16:colId xmlns:a16="http://schemas.microsoft.com/office/drawing/2014/main" val="72110444"/>
                    </a:ext>
                  </a:extLst>
                </a:gridCol>
                <a:gridCol w="2482516">
                  <a:extLst>
                    <a:ext uri="{9D8B030D-6E8A-4147-A177-3AD203B41FA5}">
                      <a16:colId xmlns:a16="http://schemas.microsoft.com/office/drawing/2014/main" val="371337777"/>
                    </a:ext>
                  </a:extLst>
                </a:gridCol>
                <a:gridCol w="2482516">
                  <a:extLst>
                    <a:ext uri="{9D8B030D-6E8A-4147-A177-3AD203B41FA5}">
                      <a16:colId xmlns:a16="http://schemas.microsoft.com/office/drawing/2014/main" val="3666883332"/>
                    </a:ext>
                  </a:extLst>
                </a:gridCol>
              </a:tblGrid>
              <a:tr h="6301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FIELD</a:t>
                      </a:r>
                      <a:endParaRPr lang="en-IN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APPLICATION</a:t>
                      </a:r>
                      <a:endParaRPr lang="en-IN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BENEFIT</a:t>
                      </a:r>
                      <a:endParaRPr lang="en-IN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latin typeface="Bahnschrift" panose="020B0502040204020203" pitchFamily="34" charset="0"/>
                        </a:rPr>
                        <a:t>AI USAGE (%)</a:t>
                      </a:r>
                      <a:endParaRPr lang="en-IN" sz="14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>
                    <a:solidFill>
                      <a:schemeClr val="tx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2882316"/>
                  </a:ext>
                </a:extLst>
              </a:tr>
              <a:tr h="699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Healthcare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Disease detection &amp; medical image analysis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Faster support for diagnosis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25%</a:t>
                      </a:r>
                      <a:endParaRPr lang="en-IN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1027381669"/>
                  </a:ext>
                </a:extLst>
              </a:tr>
              <a:tr h="489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Education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Personalized learning systems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Learning adapted to students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20%</a:t>
                      </a:r>
                      <a:endParaRPr lang="en-IN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3135863222"/>
                  </a:ext>
                </a:extLst>
              </a:tr>
              <a:tr h="4894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Banking</a:t>
                      </a:r>
                      <a:endParaRPr lang="en-IN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Fraud detection &amp; risk analysis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Safer financial transactions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20%</a:t>
                      </a:r>
                      <a:endParaRPr lang="en-IN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3384909645"/>
                  </a:ext>
                </a:extLst>
              </a:tr>
              <a:tr h="699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Transport</a:t>
                      </a:r>
                      <a:endParaRPr lang="en-IN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Route optimization &amp; autonomous systems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Efficiency and improved safety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15%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1887264670"/>
                  </a:ext>
                </a:extLst>
              </a:tr>
              <a:tr h="699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Entertainment</a:t>
                      </a:r>
                      <a:endParaRPr lang="en-IN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Content recommendation &amp; gaming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Personalized user experience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10%</a:t>
                      </a:r>
                      <a:endParaRPr lang="en-IN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1172330591"/>
                  </a:ext>
                </a:extLst>
              </a:tr>
              <a:tr h="6992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Manufacturing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Quality control &amp; predictive maintenance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Reduced errors and downtime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10%</a:t>
                      </a:r>
                      <a:endParaRPr lang="en-IN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676553620"/>
                  </a:ext>
                </a:extLst>
              </a:tr>
              <a:tr h="279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TOTAL</a:t>
                      </a:r>
                      <a:endParaRPr lang="en-IN" sz="14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—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—</a:t>
                      </a:r>
                    </a:p>
                  </a:txBody>
                  <a:tcPr marL="72999" marR="72999" marT="36500" marB="3650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Bahnschrift" panose="020B0502040204020203" pitchFamily="34" charset="0"/>
                        </a:rPr>
                        <a:t>100%</a:t>
                      </a:r>
                      <a:endParaRPr lang="en-IN" sz="14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Bahnschrift" panose="020B0502040204020203" pitchFamily="34" charset="0"/>
                      </a:endParaRPr>
                    </a:p>
                  </a:txBody>
                  <a:tcPr marL="72999" marR="72999" marT="36500" marB="36500" anchor="ctr"/>
                </a:tc>
                <a:extLst>
                  <a:ext uri="{0D108BD9-81ED-4DB2-BD59-A6C34878D82A}">
                    <a16:rowId xmlns:a16="http://schemas.microsoft.com/office/drawing/2014/main" val="587432611"/>
                  </a:ext>
                </a:extLst>
              </a:tr>
            </a:tbl>
          </a:graphicData>
        </a:graphic>
      </p:graphicFrame>
      <p:sp>
        <p:nvSpPr>
          <p:cNvPr id="23" name="Date Placeholder 22">
            <a:extLst>
              <a:ext uri="{FF2B5EF4-FFF2-40B4-BE49-F238E27FC236}">
                <a16:creationId xmlns:a16="http://schemas.microsoft.com/office/drawing/2014/main" id="{852D64CC-F8AF-3845-96B0-37A14AFD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D7810-133B-4931-A95D-8A9FA0468C8E}" type="datetime1">
              <a:rPr lang="en-US" smtClean="0">
                <a:solidFill>
                  <a:schemeClr val="bg1"/>
                </a:solidFill>
              </a:rPr>
              <a:t>8/20/2026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D9321420-330E-81AF-F19C-B2E3D4E29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Ankita | GR9306 | 26CAMSAG160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3" name="chimes.wav"/>
          </p:stSnd>
        </p:sndAc>
      </p:transition>
    </mc:Choice>
    <mc:Fallback xmlns="">
      <p:transition spd="slow">
        <p:split orient="vert"/>
        <p:sndAc>
          <p:stSnd>
            <p:snd r:embed="rId6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1"/>
                </a:solidFill>
              </a:defRPr>
            </a:pPr>
            <a:r>
              <a:t>Growth of AI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8"/>
                </a:solidFill>
              </a:defRPr>
            </a:pPr>
            <a:r>
              <a:t>Illustrative adoption trend (2020–2025)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463040"/>
          <a:ext cx="73152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58200" y="16002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458200" y="1600200"/>
            <a:ext cx="73152" cy="1143000"/>
          </a:xfrm>
          <a:prstGeom prst="rect">
            <a:avLst/>
          </a:prstGeom>
          <a:solidFill>
            <a:srgbClr val="1C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59368" y="176479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1"/>
                </a:solidFill>
              </a:defRPr>
            </a:pPr>
            <a:r>
              <a:t>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59368" y="21671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AI adoption begins accelerating.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9718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58200" y="2971800"/>
            <a:ext cx="73152" cy="1143000"/>
          </a:xfrm>
          <a:prstGeom prst="rect">
            <a:avLst/>
          </a:prstGeom>
          <a:solidFill>
            <a:srgbClr val="D6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59368" y="313639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1"/>
                </a:solidFill>
              </a:defRPr>
            </a:pPr>
            <a:r>
              <a:t>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35387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AI becomes mainstream across industries.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434340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458200" y="4343400"/>
            <a:ext cx="73152" cy="1143000"/>
          </a:xfrm>
          <a:prstGeom prst="rect">
            <a:avLst/>
          </a:prstGeom>
          <a:solidFill>
            <a:srgbClr val="1C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59368" y="4507992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1"/>
                </a:solidFill>
              </a:defRPr>
            </a:pPr>
            <a:r>
              <a:t>2025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9368" y="49103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t>AI is expected to be integrated into many everyday workflows.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D6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2D41"/>
                </a:solidFill>
              </a:defRPr>
            </a:pPr>
            <a:r>
              <a:t>4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7D51D0AC-77F9-086C-D211-3D8472FEA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EEA02-AE19-41C9-A5E5-03966398C48A}" type="datetime1">
              <a:rPr lang="en-US" smtClean="0"/>
              <a:t>8/20/2026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E801CCE4-7A03-4100-589B-B4AC7E0A5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Ankita | GR9306 | 26CAMSAG160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3" name="chimes.wav"/>
          </p:stSnd>
        </p:sndAc>
      </p:transition>
    </mc:Choice>
    <mc:Fallback xmlns="">
      <p:transition spd="slow">
        <p:split orient="vert"/>
        <p:sndAc>
          <p:stSnd>
            <p:snd r:embed="rId5" name="chimes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Realistic Information Network PowerPoint Background | Stable Diffusion  Online">
            <a:extLst>
              <a:ext uri="{FF2B5EF4-FFF2-40B4-BE49-F238E27FC236}">
                <a16:creationId xmlns:a16="http://schemas.microsoft.com/office/drawing/2014/main" id="{4EA17595-F4AD-E4C5-0D2F-5BFD62928C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652" y="0"/>
            <a:ext cx="12192000" cy="690741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40080" y="411480"/>
            <a:ext cx="422314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92D41"/>
                </a:solidFill>
              </a:defRPr>
            </a:pPr>
            <a:r>
              <a:rPr dirty="0">
                <a:solidFill>
                  <a:schemeClr val="bg1"/>
                </a:solidFill>
              </a:rPr>
              <a:t>Advantages</a:t>
            </a:r>
            <a:r>
              <a:rPr dirty="0"/>
              <a:t> </a:t>
            </a:r>
            <a:r>
              <a:rPr dirty="0">
                <a:solidFill>
                  <a:schemeClr val="bg1"/>
                </a:solidFill>
              </a:rPr>
              <a:t>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47040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E78"/>
                </a:solidFill>
              </a:defRPr>
            </a:pPr>
            <a:r>
              <a:rPr sz="1600" dirty="0">
                <a:solidFill>
                  <a:schemeClr val="bg1"/>
                </a:solidFill>
              </a:rPr>
              <a:t>Why AI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3566160"/>
          </a:xfrm>
          <a:prstGeom prst="rect">
            <a:avLst/>
          </a:prstGeom>
          <a:solidFill>
            <a:srgbClr val="1C7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735278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D41"/>
                </a:solidFill>
              </a:defRPr>
            </a:pPr>
            <a:r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82588"/>
            <a:ext cx="48463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300">
                <a:solidFill>
                  <a:srgbClr val="232D37"/>
                </a:solidFill>
              </a:defRPr>
            </a:pPr>
            <a:r>
              <a:rPr sz="1600" dirty="0">
                <a:latin typeface="Bodoni MT" panose="02070603080606020203" pitchFamily="18" charset="0"/>
              </a:rPr>
              <a:t> Saves time and automates repetitive work</a:t>
            </a:r>
            <a:endParaRPr lang="en-IN" sz="16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300">
                <a:solidFill>
                  <a:srgbClr val="232D37"/>
                </a:solidFill>
              </a:defRPr>
            </a:pPr>
            <a:endParaRPr lang="en-IN" sz="16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300">
                <a:solidFill>
                  <a:srgbClr val="232D37"/>
                </a:solidFill>
              </a:defRPr>
            </a:pPr>
            <a:r>
              <a:rPr sz="1600" dirty="0">
                <a:latin typeface="Bodoni MT" panose="02070603080606020203" pitchFamily="18" charset="0"/>
              </a:rPr>
              <a:t>Reduces human error in data-heavy tasks</a:t>
            </a:r>
            <a:endParaRPr lang="en-IN" sz="16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300">
                <a:solidFill>
                  <a:srgbClr val="232D37"/>
                </a:solidFill>
              </a:defRPr>
            </a:pPr>
            <a:endParaRPr lang="en-IN" sz="16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300">
                <a:solidFill>
                  <a:srgbClr val="232D37"/>
                </a:solidFill>
              </a:defRPr>
            </a:pPr>
            <a:r>
              <a:rPr sz="1600" dirty="0">
                <a:latin typeface="Bodoni MT" panose="02070603080606020203" pitchFamily="18" charset="0"/>
              </a:rPr>
              <a:t>Supports faster analysis and decision-making</a:t>
            </a:r>
            <a:br>
              <a:rPr sz="1600" dirty="0">
                <a:latin typeface="Bodoni MT" panose="02070603080606020203" pitchFamily="18" charset="0"/>
              </a:rPr>
            </a:br>
            <a:endParaRPr lang="en-IN" sz="1600" dirty="0">
              <a:latin typeface="Bodoni MT" panose="020706030806060202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1300">
                <a:solidFill>
                  <a:srgbClr val="232D37"/>
                </a:solidFill>
              </a:defRPr>
            </a:pPr>
            <a:r>
              <a:rPr sz="1600" dirty="0">
                <a:latin typeface="Bodoni MT" panose="02070603080606020203" pitchFamily="18" charset="0"/>
              </a:rPr>
              <a:t>Enables new products and services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32856" y="6108486"/>
            <a:ext cx="1519968" cy="2616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46E78"/>
                </a:solidFill>
              </a:defRPr>
            </a:pPr>
            <a:r>
              <a:rPr dirty="0"/>
              <a:t>🔊 Audio: AI overview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46520"/>
            <a:ext cx="11155680" cy="18288"/>
          </a:xfrm>
          <a:prstGeom prst="rect">
            <a:avLst/>
          </a:prstGeom>
          <a:solidFill>
            <a:srgbClr val="D6A6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064240" y="646480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2D41"/>
                </a:solidFill>
              </a:defRPr>
            </a:pPr>
            <a:r>
              <a:t>5</a:t>
            </a:r>
          </a:p>
        </p:txBody>
      </p:sp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F68D5F1D-EF7A-3F4C-C3F3-CDC96836E5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2909803"/>
              </p:ext>
            </p:extLst>
          </p:nvPr>
        </p:nvGraphicFramePr>
        <p:xfrm>
          <a:off x="6706107" y="756243"/>
          <a:ext cx="4992624" cy="4016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CF6DE63-E773-2123-718E-9458F284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5D58-8FB7-4F42-A2AB-D570D4D9ED29}" type="datetime1">
              <a:rPr lang="en-US" smtClean="0">
                <a:solidFill>
                  <a:schemeClr val="bg1"/>
                </a:solidFill>
              </a:rPr>
              <a:t>8/20/2026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48CCD7C-A6D7-8C0A-D614-5B209416F871}"/>
              </a:ext>
            </a:extLst>
          </p:cNvPr>
          <p:cNvSpPr/>
          <p:nvPr/>
        </p:nvSpPr>
        <p:spPr>
          <a:xfrm>
            <a:off x="430241" y="5985895"/>
            <a:ext cx="4642821" cy="30777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05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skerville Old Face" panose="02020602080505020303" pitchFamily="18" charset="0"/>
              </a:rPr>
              <a:t>Ref</a:t>
            </a:r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skerville Old Face" panose="02020602080505020303" pitchFamily="18" charset="0"/>
              </a:rPr>
              <a:t>: </a:t>
            </a:r>
            <a:r>
              <a:rPr lang="en-US" sz="1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skerville Old Face" panose="02020602080505020303" pitchFamily="18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https://en.wikipedia.org/wiki/Artificial_intelligence</a:t>
            </a:r>
            <a:endParaRPr lang="en-US" sz="1400" b="0" cap="none" spc="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askerville Old Face" panose="02020602080505020303" pitchFamily="18" charset="0"/>
            </a:endParaRPr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CF861A44-C824-6B67-C7F3-0BDF8317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Ankita | GR9306 | 26CAMSAG160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  <p:sndAc>
          <p:stSnd>
            <p:snd r:embed="rId3" name="chimes.wav"/>
          </p:stSnd>
        </p:sndAc>
      </p:transition>
    </mc:Choice>
    <mc:Fallback xmlns="">
      <p:transition spd="slow">
        <p:split orient="vert"/>
        <p:sndAc>
          <p:stSnd>
            <p:snd r:embed="rId8" name="chimes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Graphic spid="18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491</Words>
  <Application>Microsoft Office PowerPoint</Application>
  <PresentationFormat>Widescreen</PresentationFormat>
  <Paragraphs>89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Bahnschrift</vt:lpstr>
      <vt:lpstr>Baskerville Old Face</vt:lpstr>
      <vt:lpstr>Bell MT</vt:lpstr>
      <vt:lpstr>Bodoni MT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MCA Problem 4 – Artificial Intelligence</dc:title>
  <dc:subject>Fundamentals of IT: MS PowerPoint</dc:subject>
  <dc:creator>MCA I Semester Student</dc:creator>
  <cp:keywords>PowerPoint, AI, MCA Lab, Problem 4, Chart, Table, Animation, Hyperlink</cp:keywords>
  <dc:description>generated using python-pptx</dc:description>
  <cp:lastModifiedBy>Ankita Maurya</cp:lastModifiedBy>
  <cp:revision>9</cp:revision>
  <dcterms:created xsi:type="dcterms:W3CDTF">2013-01-27T09:14:16Z</dcterms:created>
  <dcterms:modified xsi:type="dcterms:W3CDTF">2026-08-20T17:49:29Z</dcterms:modified>
  <cp:category/>
</cp:coreProperties>
</file>