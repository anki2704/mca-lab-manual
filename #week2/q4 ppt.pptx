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61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9CB4E0"/>
    <a:srgbClr val="BCF1FC"/>
    <a:srgbClr val="2F5597"/>
    <a:srgbClr val="B9E6FD"/>
    <a:srgbClr val="56ADF4"/>
    <a:srgbClr val="DFE7F5"/>
    <a:srgbClr val="A8D8E6"/>
    <a:srgbClr val="BDEBFB"/>
    <a:srgbClr val="487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Maurya" userId="b6156e6d6a93d239" providerId="LiveId" clId="{6CA817AD-5DC8-4262-B43A-CFE7DA2EDC80}"/>
    <pc:docChg chg="modSld">
      <pc:chgData name="Ankita Maurya" userId="b6156e6d6a93d239" providerId="LiveId" clId="{6CA817AD-5DC8-4262-B43A-CFE7DA2EDC80}" dt="2026-04-30T16:56:27.051" v="5" actId="1076"/>
      <pc:docMkLst>
        <pc:docMk/>
      </pc:docMkLst>
      <pc:sldChg chg="modSp mod">
        <pc:chgData name="Ankita Maurya" userId="b6156e6d6a93d239" providerId="LiveId" clId="{6CA817AD-5DC8-4262-B43A-CFE7DA2EDC80}" dt="2026-04-30T16:56:27.051" v="5" actId="1076"/>
        <pc:sldMkLst>
          <pc:docMk/>
          <pc:sldMk cId="2538913649" sldId="260"/>
        </pc:sldMkLst>
        <pc:spChg chg="mod">
          <ac:chgData name="Ankita Maurya" userId="b6156e6d6a93d239" providerId="LiveId" clId="{6CA817AD-5DC8-4262-B43A-CFE7DA2EDC80}" dt="2026-04-30T16:56:27.051" v="5" actId="1076"/>
          <ac:spMkLst>
            <pc:docMk/>
            <pc:sldMk cId="2538913649" sldId="260"/>
            <ac:spMk id="4" creationId="{175FB892-503A-0742-2A37-DC10ECE6C8A9}"/>
          </ac:spMkLst>
        </pc:spChg>
        <pc:spChg chg="mod">
          <ac:chgData name="Ankita Maurya" userId="b6156e6d6a93d239" providerId="LiveId" clId="{6CA817AD-5DC8-4262-B43A-CFE7DA2EDC80}" dt="2026-04-30T16:56:14.581" v="4" actId="1076"/>
          <ac:spMkLst>
            <pc:docMk/>
            <pc:sldMk cId="2538913649" sldId="260"/>
            <ac:spMk id="5" creationId="{95C6F1EC-47A8-5CAA-3DAD-88E83EFF5476}"/>
          </ac:spMkLst>
        </pc:spChg>
        <pc:spChg chg="mod">
          <ac:chgData name="Ankita Maurya" userId="b6156e6d6a93d239" providerId="LiveId" clId="{6CA817AD-5DC8-4262-B43A-CFE7DA2EDC80}" dt="2026-04-30T16:55:54.753" v="3" actId="14100"/>
          <ac:spMkLst>
            <pc:docMk/>
            <pc:sldMk cId="2538913649" sldId="260"/>
            <ac:spMk id="8" creationId="{214A5064-5BA8-471B-E2D2-2D864E8B90B4}"/>
          </ac:spMkLst>
        </pc:spChg>
        <pc:spChg chg="mod">
          <ac:chgData name="Ankita Maurya" userId="b6156e6d6a93d239" providerId="LiveId" clId="{6CA817AD-5DC8-4262-B43A-CFE7DA2EDC80}" dt="2026-04-30T16:55:30.814" v="1" actId="1076"/>
          <ac:spMkLst>
            <pc:docMk/>
            <pc:sldMk cId="2538913649" sldId="260"/>
            <ac:spMk id="20" creationId="{803BD795-6A0F-1556-6101-AF5382F2BA14}"/>
          </ac:spMkLst>
        </pc:spChg>
        <pc:spChg chg="mod">
          <ac:chgData name="Ankita Maurya" userId="b6156e6d6a93d239" providerId="LiveId" clId="{6CA817AD-5DC8-4262-B43A-CFE7DA2EDC80}" dt="2026-04-30T16:55:39.174" v="2" actId="1076"/>
          <ac:spMkLst>
            <pc:docMk/>
            <pc:sldMk cId="2538913649" sldId="260"/>
            <ac:spMk id="24" creationId="{02438B72-8040-C43B-2254-C94237DA57E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2060"/>
            </a:soli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Admin</c:v>
                </c:pt>
                <c:pt idx="1">
                  <c:v>Doctor</c:v>
                </c:pt>
                <c:pt idx="2">
                  <c:v>Patient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7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F5-4D67-9B88-A876165551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61012464"/>
        <c:axId val="361013184"/>
      </c:barChart>
      <c:catAx>
        <c:axId val="361012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013184"/>
        <c:crosses val="autoZero"/>
        <c:auto val="1"/>
        <c:lblAlgn val="ctr"/>
        <c:lblOffset val="100"/>
        <c:noMultiLvlLbl val="0"/>
      </c:catAx>
      <c:valAx>
        <c:axId val="36101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1012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 ROLE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71C-4C10-A1CD-03CD84627FC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71C-4C10-A1CD-03CD84627FC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71C-4C10-A1CD-03CD84627FC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71C-4C10-A1CD-03CD84627FC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ADMIN</c:v>
                </c:pt>
                <c:pt idx="1">
                  <c:v>DOCTOR</c:v>
                </c:pt>
                <c:pt idx="2">
                  <c:v>PATIENT</c:v>
                </c:pt>
              </c:strCache>
            </c:strRef>
          </c:cat>
          <c:val>
            <c:numRef>
              <c:f>Sheet1!$B$2:$B$5</c:f>
              <c:numCache>
                <c:formatCode>0.00%</c:formatCode>
                <c:ptCount val="4"/>
                <c:pt idx="0">
                  <c:v>0.375</c:v>
                </c:pt>
                <c:pt idx="1">
                  <c:v>0.29199999999999998</c:v>
                </c:pt>
                <c:pt idx="2" formatCode="General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EC-431B-93AC-EB433A706AE0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2F8B90-B849-72B5-BB0D-4B4E2AF58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GLOBAL HOSPITAL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992A9-459E-5814-1986-069885A0FC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81175-E2E2-4D2D-9FB9-CA3740B3857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5C5DA-C1DF-94E1-C859-30CA7907BC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31F9B-05CB-677C-052A-4C161E49D3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E36BD-ACE3-457B-BF72-BAF1F5A943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346917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GLOBAL HOSPITAL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5A3F3-49F5-425D-9545-1D5A2245359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1CCF2-72DD-4505-B90B-A1D2B21902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41497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8847DF64-E5C1-70DA-59CE-4C34B2D20BF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GLOBAL HOSPITAL</a:t>
            </a:r>
          </a:p>
        </p:txBody>
      </p:sp>
    </p:spTree>
    <p:extLst>
      <p:ext uri="{BB962C8B-B14F-4D97-AF65-F5344CB8AC3E}">
        <p14:creationId xmlns:p14="http://schemas.microsoft.com/office/powerpoint/2010/main" val="2638227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GLOBAL HOSPITAL</a:t>
            </a:r>
          </a:p>
        </p:txBody>
      </p:sp>
    </p:spTree>
    <p:extLst>
      <p:ext uri="{BB962C8B-B14F-4D97-AF65-F5344CB8AC3E}">
        <p14:creationId xmlns:p14="http://schemas.microsoft.com/office/powerpoint/2010/main" val="38283992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FD398A39-605E-21EA-952E-C0873A5FE1F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GLOBAL HOSPITAL</a:t>
            </a:r>
          </a:p>
        </p:txBody>
      </p:sp>
    </p:spTree>
    <p:extLst>
      <p:ext uri="{BB962C8B-B14F-4D97-AF65-F5344CB8AC3E}">
        <p14:creationId xmlns:p14="http://schemas.microsoft.com/office/powerpoint/2010/main" val="1504280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GLOBAL HOSPITAL</a:t>
            </a:r>
          </a:p>
        </p:txBody>
      </p:sp>
    </p:spTree>
    <p:extLst>
      <p:ext uri="{BB962C8B-B14F-4D97-AF65-F5344CB8AC3E}">
        <p14:creationId xmlns:p14="http://schemas.microsoft.com/office/powerpoint/2010/main" val="1290375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7E21C681-EB3E-14EC-0ACE-FB091F43972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GLOBAL HOSPITAL</a:t>
            </a:r>
          </a:p>
        </p:txBody>
      </p:sp>
    </p:spTree>
    <p:extLst>
      <p:ext uri="{BB962C8B-B14F-4D97-AF65-F5344CB8AC3E}">
        <p14:creationId xmlns:p14="http://schemas.microsoft.com/office/powerpoint/2010/main" val="50051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15CC-58FB-B591-D271-1E5372B50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EDAF5-51F0-C330-AF98-8A22FBFFFC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A936F-6200-792A-4D35-A38FDE4D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76BAB-B0AB-4FF1-AAA1-561C134BCB25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CB517-8B4C-FBFF-CB99-B56BD3AB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C5DE5-7AD9-94BF-41C6-0120FCFE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447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E5543-B073-0C5B-8C3A-53AE0952F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4F7F4-A161-A94F-E90B-A26B8483E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0006C-1EB8-C5F9-1A9F-B0E80082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33A01-A2F3-4702-AE00-8DAD21D91B91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3B442-0413-5357-149B-F369165F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1A182-A2BD-1C2F-2A9E-5FFA011F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378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12DD1-58EB-979D-64FB-D24C0248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13B43-50ED-F208-62CC-2DD0D4720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00185-FE95-C02B-F6CE-C3B4A865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2CD0D-97FC-4003-A1E6-19B8A175D174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636F6-0414-ACF6-C3E2-E6E38178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1CC0B-379B-D811-A293-CE4688AB3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44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0C4AB-FE82-05AD-044A-599C8FF0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6528A-0D9D-B354-EA9B-4561D1894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D9868-4197-920D-EC42-FB2DE6B75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89157-FF95-6BA9-D1A1-0C1E95DC9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A00E5-00A7-4969-B446-64A285766CAC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D68D2C-1C10-F519-B0F5-3D2A938FE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C64D6-37CB-867D-0A6E-60BBFA39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51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395D2-E8C2-0CA9-4D08-135EC973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290AE-7410-D54C-01D8-B9390FD73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92EF2-E571-DCE2-94DE-14F68A90A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1159A-893D-9E3F-C9B5-57DB30AFF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FF965-F4CA-D95E-FCF2-6580184523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BE873-8750-0318-AD00-63DE8B134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57A30-8692-430F-AAC4-48D9CF998AD8}" type="datetime1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164BD-1B0F-2203-F9BE-C7FFF340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B7D870-C082-4801-24BB-325D07D4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11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3792F-5D8F-02F1-CB2A-75D7B9E9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C7B6F-3C4B-B4E6-2078-560AFB3F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68F1-1EFE-42A5-8AAF-2378DD680EA6}" type="datetime1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28478-E675-62F5-23D9-B71954EBC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B103A-47D2-6DAD-E3D3-CDA5FE6E4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669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B8E53-7058-3FA0-524D-FD9DA1217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A10A6-51DA-4300-86DB-2E88FEECFEAF}" type="datetime1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9B376C-1EFC-A957-FDEB-65C651CD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0E47D-84C8-660C-57D4-A634DE05B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05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D576-D409-3B96-ACC8-4A9EA3141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8FFD6-0BF7-5C64-0624-986F875D1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F5FB9-503B-0072-3390-D86F2967F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70EBD-0218-D749-B3C1-8328F4AF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38C9F-ADE8-459E-BD47-7B7B9A5EF21E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18139-0E11-4A57-AF42-1ACEC5B3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2C6C7-55C3-FAC4-27D7-387F6FBE0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978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4755-D88A-CECD-DA45-59442C4A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AB5DD6-B9F8-64A0-033C-B4422924CE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03E0A-2095-0AE0-D883-BC945EFD3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06FC46-30E9-1372-5116-CFAC338B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7109C-C7EF-4FF0-A2CC-0629E0932462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DDA7F-2F71-CCA4-596B-47ED7A0E9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97B10-4B56-3FF3-3EC1-8A5338C2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56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ACD9-90A9-F079-C33E-C60781DB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84B28-D287-7EEA-A7BE-7B1F203EB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EAB53-C496-19C9-0D23-24F1E6E13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E36BD-F912-4421-B9B3-EEF7AECB5A39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6174-8BAF-914C-B9EF-ABC295792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149CB-3D5C-1765-C8FE-AAE8E927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16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08C1D9-9806-30DB-7FE5-9FEBEDE2D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B9ABC-1E9C-128C-4643-BCCF11B31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5DD0B-891B-2E8A-92A9-6B7029A6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647E0-E101-4144-9A5A-D42D5F7DFBB1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33A67-5CDB-5DEC-7462-907408B73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66476-F54C-D1AD-851A-4F1FDB50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48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B2FC7-B8A8-CCE2-0EFB-403A01E6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6E4F1-7E4F-743E-920D-6E3578648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A1931-57E3-9BA9-F925-7DA2A81E40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D7BC27-36AA-4B77-9F42-BDABB9690F18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DF20A-3195-852A-9C86-FAF2E1B30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Ankita | GR99306 | 26CAMSAG160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F51EA-EFF5-EAA6-353F-0BA46B9A4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52503-7472-4467-9D6E-663A4ACA34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18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1.wav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tlassian.com/software/jira?campaign=470711207&amp;adgroup=1302922415796135&amp;targetid=kwd-81432971752374:loc-90&amp;matchtype=p&amp;bidmatchtype=bp&amp;network=o&amp;device=c&amp;creative=81432706090561&amp;keyword=project%20management&amp;querystring=hospital%20management%20system%20project%20&amp;ds_eid=700000001738795&amp;ds_e1=MICROSOFT&amp;ms_acc_id=F1114F5B&amp;msclkid=ad4a8e7d11dc1f950b53e4f507e5aec1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audio" Target="../media/audio2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2.wav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audio" Target="../media/audio2.wav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6B0EC43-A7CA-C45F-55EF-30A0BE5FA63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1C5C7D1-B092-A4D7-4428-88A0AB24DB4B}"/>
              </a:ext>
            </a:extLst>
          </p:cNvPr>
          <p:cNvSpPr/>
          <p:nvPr/>
        </p:nvSpPr>
        <p:spPr>
          <a:xfrm>
            <a:off x="294639" y="233680"/>
            <a:ext cx="4477385" cy="873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b="1" dirty="0">
                <a:solidFill>
                  <a:schemeClr val="tx1"/>
                </a:solidFill>
                <a:effectLst>
                  <a:glow rad="101600">
                    <a:schemeClr val="tx2">
                      <a:lumMod val="20000"/>
                      <a:lumOff val="80000"/>
                      <a:alpha val="6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Perpetua Titling MT" panose="02020502060505020804" pitchFamily="18" charset="0"/>
              </a:rPr>
              <a:t>Department Of Computer Science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F298ED-4122-2FD6-3D35-A0FD51CC2CF2}"/>
              </a:ext>
            </a:extLst>
          </p:cNvPr>
          <p:cNvSpPr txBox="1"/>
          <p:nvPr/>
        </p:nvSpPr>
        <p:spPr>
          <a:xfrm>
            <a:off x="5638800" y="28702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BB768-15F5-9C13-ABB2-18B9DFA4D0B7}"/>
              </a:ext>
            </a:extLst>
          </p:cNvPr>
          <p:cNvSpPr txBox="1"/>
          <p:nvPr/>
        </p:nvSpPr>
        <p:spPr>
          <a:xfrm>
            <a:off x="294639" y="1260832"/>
            <a:ext cx="118205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effectLst>
                  <a:glow rad="101600">
                    <a:schemeClr val="bg1">
                      <a:lumMod val="95000"/>
                      <a:alpha val="60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Perpetua Titling MT" panose="02020502060505020804" pitchFamily="18" charset="0"/>
              </a:rPr>
              <a:t>RESEARCH PROJECT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effectLst>
                  <a:glow rad="101600">
                    <a:schemeClr val="bg1">
                      <a:lumMod val="95000"/>
                      <a:alpha val="60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Perpetua Titling MT" panose="02020502060505020804" pitchFamily="18" charset="0"/>
              </a:rPr>
              <a:t>Hospital Management System</a:t>
            </a:r>
          </a:p>
          <a:p>
            <a:pPr algn="ctr"/>
            <a:r>
              <a:rPr lang="en-US" sz="2000" b="1" dirty="0">
                <a:effectLst>
                  <a:glow rad="101600">
                    <a:schemeClr val="bg1">
                      <a:lumMod val="95000"/>
                      <a:alpha val="60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Perpetua Titling MT" panose="02020502060505020804" pitchFamily="18" charset="0"/>
              </a:rPr>
              <a:t>( A Web-Based Solution for Efficient Healthcare Administration)</a:t>
            </a:r>
          </a:p>
          <a:p>
            <a:pPr algn="ctr"/>
            <a:endParaRPr lang="en-IN" sz="3600" b="1" dirty="0">
              <a:latin typeface="Perpetua Titling MT" panose="020205020605050208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9631C-2FAE-485B-866D-CC831B9FA5B2}"/>
              </a:ext>
            </a:extLst>
          </p:cNvPr>
          <p:cNvSpPr txBox="1"/>
          <p:nvPr/>
        </p:nvSpPr>
        <p:spPr>
          <a:xfrm>
            <a:off x="742950" y="4558692"/>
            <a:ext cx="39528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Ankita 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8515D-C31A-1A0D-7824-D7F1152E903D}"/>
              </a:ext>
            </a:extLst>
          </p:cNvPr>
          <p:cNvSpPr txBox="1"/>
          <p:nvPr/>
        </p:nvSpPr>
        <p:spPr>
          <a:xfrm>
            <a:off x="8301309" y="4526334"/>
            <a:ext cx="343681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of:​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ED3944-84B2-E3E6-7FB7-C858432A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7AAC5-6D10-4DC8-ADBC-3453E2CBF424}" type="datetime1">
              <a:rPr lang="en-IN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21-08-2026</a:t>
            </a:fld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C8E0E-D816-1ECE-5119-E9EA0372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Ankita | GR99306 | 26CAMSAG160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AC39E-1716-4994-48E3-7D8F26284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225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3" name="drumroll.wav"/>
          </p:stSnd>
        </p:sndAc>
      </p:transition>
    </mc:Choice>
    <mc:Fallback xmlns="">
      <p:transition spd="slow">
        <p:fade/>
        <p:sndAc>
          <p:stSnd>
            <p:snd r:embed="rId6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E8E8E8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A249EEF3-CF1B-0324-7508-3C52FC0A3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456D88C5-C925-FC19-6578-9889A29E2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6144" y="0"/>
            <a:ext cx="3565856" cy="6858000"/>
          </a:xfrm>
          <a:prstGeom prst="rect">
            <a:avLst/>
          </a:prstGeom>
        </p:spPr>
      </p:pic>
      <p:pic>
        <p:nvPicPr>
          <p:cNvPr id="146" name="Picture 145">
            <a:extLst>
              <a:ext uri="{FF2B5EF4-FFF2-40B4-BE49-F238E27FC236}">
                <a16:creationId xmlns:a16="http://schemas.microsoft.com/office/drawing/2014/main" id="{FF3A26BD-3919-A2DC-479B-024A2B63C0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4696" y="1701324"/>
            <a:ext cx="3462896" cy="3455352"/>
          </a:xfrm>
          <a:prstGeom prst="rect">
            <a:avLst/>
          </a:prstGeom>
        </p:spPr>
      </p:pic>
      <p:sp>
        <p:nvSpPr>
          <p:cNvPr id="147" name="Flowchart: Connector 146">
            <a:extLst>
              <a:ext uri="{FF2B5EF4-FFF2-40B4-BE49-F238E27FC236}">
                <a16:creationId xmlns:a16="http://schemas.microsoft.com/office/drawing/2014/main" id="{843CC8A2-1F04-3AA9-1B5F-5E886461D772}"/>
              </a:ext>
            </a:extLst>
          </p:cNvPr>
          <p:cNvSpPr/>
          <p:nvPr/>
        </p:nvSpPr>
        <p:spPr>
          <a:xfrm>
            <a:off x="6791736" y="4780758"/>
            <a:ext cx="504056" cy="512602"/>
          </a:xfrm>
          <a:prstGeom prst="flowChartConnector">
            <a:avLst/>
          </a:prstGeom>
          <a:solidFill>
            <a:srgbClr val="2F55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2" name="Graphic 151">
            <a:extLst>
              <a:ext uri="{FF2B5EF4-FFF2-40B4-BE49-F238E27FC236}">
                <a16:creationId xmlns:a16="http://schemas.microsoft.com/office/drawing/2014/main" id="{84A5A45A-2E4B-FDE3-7256-DAF194FFE5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12220" y="0"/>
            <a:ext cx="762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F809F5-8B32-8DD1-A9A9-FEE347D5177E}"/>
              </a:ext>
            </a:extLst>
          </p:cNvPr>
          <p:cNvSpPr txBox="1"/>
          <p:nvPr/>
        </p:nvSpPr>
        <p:spPr>
          <a:xfrm>
            <a:off x="242114" y="19665"/>
            <a:ext cx="7732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Footlight MT Light" panose="0204060206030A020304" pitchFamily="18" charset="0"/>
              </a:rPr>
              <a:t>INTRODUCTION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0DF776D-2B91-331A-96D2-E14C92025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579" y="1206612"/>
            <a:ext cx="6450185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Hospital Management System (HMS)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is a comprehensive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web-based solution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designed to automate and enhance the functioning of hospitals.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sto MT" panose="0204060305050503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latin typeface="Calisto MT" panose="02040603050505030304" pitchFamily="18" charset="0"/>
              </a:rPr>
              <a:t>It was developed using </a:t>
            </a:r>
            <a:r>
              <a:rPr lang="en-US" altLang="en-US" sz="1400" b="1" dirty="0">
                <a:latin typeface="Calisto MT" panose="02040603050505030304" pitchFamily="18" charset="0"/>
              </a:rPr>
              <a:t>PHP, MySQL, HTML, CSS, and JavaScript</a:t>
            </a:r>
            <a:r>
              <a:rPr lang="en-US" altLang="en-US" sz="1400" dirty="0">
                <a:latin typeface="Calisto MT" panose="02040603050505030304" pitchFamily="18" charset="0"/>
              </a:rPr>
              <a:t>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Calisto MT" panose="0204060305050503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400" dirty="0">
              <a:latin typeface="Calisto MT" panose="02040603050505030304" pitchFamily="18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alisto MT" panose="02040603050505030304" pitchFamily="18" charset="0"/>
              </a:rPr>
              <a:t>Key operational modules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sto MT" panose="02040603050505030304" pitchFamily="18" charset="0"/>
              </a:rPr>
              <a:t>Digital patient registration and medical history tracking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sto MT" panose="02040603050505030304" pitchFamily="18" charset="0"/>
              </a:rPr>
              <a:t>Online appointment booking and real-time scheduling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sto MT" panose="02040603050505030304" pitchFamily="18" charset="0"/>
              </a:rPr>
              <a:t>Doctor and staff availability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sto MT" panose="02040603050505030304" pitchFamily="18" charset="0"/>
              </a:rPr>
              <a:t>Integrated billing and report generation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alisto MT" panose="02040603050505030304" pitchFamily="18" charset="0"/>
              </a:rPr>
              <a:t>With </a:t>
            </a:r>
            <a:r>
              <a:rPr lang="en-US" sz="1400" b="1" dirty="0">
                <a:latin typeface="Calisto MT" panose="02040603050505030304" pitchFamily="18" charset="0"/>
              </a:rPr>
              <a:t>role-based access</a:t>
            </a:r>
            <a:r>
              <a:rPr lang="en-US" sz="1400" dirty="0">
                <a:latin typeface="Calisto MT" panose="02040603050505030304" pitchFamily="18" charset="0"/>
              </a:rPr>
              <a:t> for Admin, Doctors, and Patients, it ensures </a:t>
            </a:r>
            <a:r>
              <a:rPr lang="en-US" sz="1400" b="1" dirty="0">
                <a:latin typeface="Calisto MT" panose="02040603050505030304" pitchFamily="18" charset="0"/>
              </a:rPr>
              <a:t>data privacy, security, and ease of use</a:t>
            </a:r>
            <a:endParaRPr lang="en-US" sz="1400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sto MT" panose="020406030505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400" dirty="0"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04C02F-FCFB-3EC5-8F02-2AED3783F9B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00409"/>
            <a:ext cx="12192001" cy="69584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44CECAE-F4A0-B051-8B12-297F9A8AFB33}"/>
              </a:ext>
            </a:extLst>
          </p:cNvPr>
          <p:cNvSpPr txBox="1"/>
          <p:nvPr/>
        </p:nvSpPr>
        <p:spPr>
          <a:xfrm>
            <a:off x="242114" y="5772467"/>
            <a:ext cx="7429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 : </a:t>
            </a:r>
            <a:r>
              <a:rPr lang="en-IN" dirty="0">
                <a:hlinkClick r:id="rId8"/>
              </a:rPr>
              <a:t>https://www.atlassian.com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5B1B04-77CF-DB78-1757-8B029A84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E1F09-D33F-49F9-8BAF-B80365D4F599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8BA03-4EC7-3CE0-1EA5-200D2DB67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3BE452B-F49B-B075-1EC7-89672FF9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818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3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BF9CFF-9D33-9243-2D7D-5CF40D556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83733" y="32737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860452B-C8EF-26E4-5582-8978D1E99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95850" y="32743"/>
            <a:ext cx="4485619" cy="67925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C7B77D7-5152-77C2-C0DE-E67C69D3D89C}"/>
              </a:ext>
            </a:extLst>
          </p:cNvPr>
          <p:cNvSpPr txBox="1"/>
          <p:nvPr/>
        </p:nvSpPr>
        <p:spPr>
          <a:xfrm>
            <a:off x="234462" y="128954"/>
            <a:ext cx="54746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Footlight MT Light" panose="0204060206030A020304" pitchFamily="18" charset="0"/>
              </a:rPr>
              <a:t>Database Design</a:t>
            </a:r>
          </a:p>
          <a:p>
            <a:endParaRPr lang="en-IN" sz="2800" b="1" dirty="0">
              <a:latin typeface="Elephant" panose="02020904090505020303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5B4509D-F0D6-D0B6-EF91-A7DCE2B8C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94325"/>
              </p:ext>
            </p:extLst>
          </p:nvPr>
        </p:nvGraphicFramePr>
        <p:xfrm>
          <a:off x="240632" y="1281485"/>
          <a:ext cx="7148856" cy="4910575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82346">
                  <a:extLst>
                    <a:ext uri="{9D8B030D-6E8A-4147-A177-3AD203B41FA5}">
                      <a16:colId xmlns:a16="http://schemas.microsoft.com/office/drawing/2014/main" val="3367613034"/>
                    </a:ext>
                  </a:extLst>
                </a:gridCol>
                <a:gridCol w="2668109">
                  <a:extLst>
                    <a:ext uri="{9D8B030D-6E8A-4147-A177-3AD203B41FA5}">
                      <a16:colId xmlns:a16="http://schemas.microsoft.com/office/drawing/2014/main" val="1445791909"/>
                    </a:ext>
                  </a:extLst>
                </a:gridCol>
                <a:gridCol w="2798401">
                  <a:extLst>
                    <a:ext uri="{9D8B030D-6E8A-4147-A177-3AD203B41FA5}">
                      <a16:colId xmlns:a16="http://schemas.microsoft.com/office/drawing/2014/main" val="848663594"/>
                    </a:ext>
                  </a:extLst>
                </a:gridCol>
              </a:tblGrid>
              <a:tr h="461319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 Table Name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Purpose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 Primary / Foreign Keys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787519"/>
                  </a:ext>
                </a:extLst>
              </a:tr>
              <a:tr h="461319"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admintb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Stores admin login credentials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username (PK)</a:t>
                      </a:r>
                      <a:endParaRPr lang="en-IN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17639"/>
                  </a:ext>
                </a:extLst>
              </a:tr>
              <a:tr h="461319">
                <a:tc>
                  <a:txBody>
                    <a:bodyPr/>
                    <a:lstStyle/>
                    <a:p>
                      <a:r>
                        <a:rPr lang="en-IN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doctortb</a:t>
                      </a:r>
                      <a:endParaRPr lang="en-IN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Stores doctor info &amp; contact details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id (PK)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279802"/>
                  </a:ext>
                </a:extLst>
              </a:tr>
              <a:tr h="461319">
                <a:tc>
                  <a:txBody>
                    <a:bodyPr/>
                    <a:lstStyle/>
                    <a:p>
                      <a:r>
                        <a:rPr lang="en-IN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patienttb</a:t>
                      </a:r>
                      <a:endParaRPr lang="en-IN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Patient info with doctor linkage</a:t>
                      </a:r>
                      <a:endParaRPr lang="en-US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id (PK), doctor_id (FK)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64840"/>
                  </a:ext>
                </a:extLst>
              </a:tr>
              <a:tr h="807308">
                <a:tc>
                  <a:txBody>
                    <a:bodyPr/>
                    <a:lstStyle/>
                    <a:p>
                      <a:r>
                        <a:rPr lang="en-IN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appointmenttb</a:t>
                      </a:r>
                      <a:endParaRPr lang="en-IN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Stores appointment details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appointment_id (PK), patient_id, doctor_id (FK)</a:t>
                      </a:r>
                      <a:endParaRPr lang="en-US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662145"/>
                  </a:ext>
                </a:extLst>
              </a:tr>
              <a:tr h="807308">
                <a:tc>
                  <a:txBody>
                    <a:bodyPr/>
                    <a:lstStyle/>
                    <a:p>
                      <a:r>
                        <a:rPr lang="en-IN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prescriptiontb</a:t>
                      </a:r>
                      <a:endParaRPr lang="en-IN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Prescriptions given by doctors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prescription_id (PK), patient_id, doctor_id (FK)</a:t>
                      </a:r>
                      <a:endParaRPr lang="en-US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32299"/>
                  </a:ext>
                </a:extLst>
              </a:tr>
              <a:tr h="807308">
                <a:tc>
                  <a:txBody>
                    <a:bodyPr/>
                    <a:lstStyle/>
                    <a:p>
                      <a:r>
                        <a:rPr lang="en-IN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billingtb</a:t>
                      </a:r>
                      <a:endParaRPr lang="en-IN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Billing and payment tracking</a:t>
                      </a:r>
                      <a:endParaRPr lang="en-IN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>
                            <a:glow rad="63500">
                              <a:schemeClr val="accent3">
                                <a:satMod val="175000"/>
                                <a:alpha val="40000"/>
                              </a:schemeClr>
                            </a:glow>
                          </a:effectLst>
                        </a:rPr>
                        <a:t>bill_id (PK), appointment_id, patient_id (FK)</a:t>
                      </a:r>
                      <a:endParaRPr lang="en-US" dirty="0">
                        <a:effectLst>
                          <a:glow rad="63500">
                            <a:schemeClr val="accent3">
                              <a:satMod val="175000"/>
                              <a:alpha val="40000"/>
                            </a:schemeClr>
                          </a:glow>
                        </a:effectLst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404337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938D9-BF7A-677C-724E-F395585D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85236-6E72-48BC-9937-53A2430EF233}" type="datetime1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8DC0C-BA83-25B4-7404-EBF69A4D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BCCB3-8F26-9F44-F98D-FFBE48BA0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40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click.wav"/>
          </p:stSnd>
        </p:sndAc>
      </p:transition>
    </mc:Choice>
    <mc:Fallback xmlns="">
      <p:transition spd="slow">
        <p:fade/>
        <p:sndAc>
          <p:stSnd>
            <p:snd r:embed="rId6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9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6C26120B-C294-8983-DCA8-54B99A09CFD9}"/>
              </a:ext>
            </a:extLst>
          </p:cNvPr>
          <p:cNvSpPr/>
          <p:nvPr/>
        </p:nvSpPr>
        <p:spPr>
          <a:xfrm>
            <a:off x="709246" y="1142783"/>
            <a:ext cx="1881554" cy="1828433"/>
          </a:xfrm>
          <a:prstGeom prst="flowChartConnector">
            <a:avLst/>
          </a:prstGeom>
          <a:blipFill dpi="0" rotWithShape="1">
            <a:blip r:embed="rId4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9A61FC4F-3BB7-BC2F-C6A8-9432C33C5D7A}"/>
              </a:ext>
            </a:extLst>
          </p:cNvPr>
          <p:cNvSpPr/>
          <p:nvPr/>
        </p:nvSpPr>
        <p:spPr>
          <a:xfrm>
            <a:off x="709246" y="3127437"/>
            <a:ext cx="1881554" cy="1828433"/>
          </a:xfrm>
          <a:prstGeom prst="flowChartConnector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4" name="Flowchart: Connector 43">
            <a:extLst>
              <a:ext uri="{FF2B5EF4-FFF2-40B4-BE49-F238E27FC236}">
                <a16:creationId xmlns:a16="http://schemas.microsoft.com/office/drawing/2014/main" id="{DFEAE9C0-F73B-9431-C187-0D5F4B188706}"/>
              </a:ext>
            </a:extLst>
          </p:cNvPr>
          <p:cNvSpPr/>
          <p:nvPr/>
        </p:nvSpPr>
        <p:spPr>
          <a:xfrm>
            <a:off x="709246" y="5053112"/>
            <a:ext cx="1881554" cy="1828433"/>
          </a:xfrm>
          <a:prstGeom prst="flowChartConnector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4F0C80-3978-95DF-F7E0-3D527CDE49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100" y="-187594"/>
            <a:ext cx="723900" cy="723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212469-4453-F109-9CBE-BB6121412720}"/>
              </a:ext>
            </a:extLst>
          </p:cNvPr>
          <p:cNvSpPr txBox="1"/>
          <p:nvPr/>
        </p:nvSpPr>
        <p:spPr>
          <a:xfrm>
            <a:off x="1219200" y="128337"/>
            <a:ext cx="91330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Calisto MT" panose="02040603050505030304" pitchFamily="18" charset="0"/>
              </a:rPr>
              <a:t>Hospital Management System – User Role Features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1696E5F0-0E3C-7F3E-A2D7-651A7497B3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6124107"/>
              </p:ext>
            </p:extLst>
          </p:nvPr>
        </p:nvGraphicFramePr>
        <p:xfrm>
          <a:off x="3031958" y="1142783"/>
          <a:ext cx="7128042" cy="4995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67C74452-B2FD-C86E-A1B6-3A34005595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0134045"/>
              </p:ext>
            </p:extLst>
          </p:nvPr>
        </p:nvGraphicFramePr>
        <p:xfrm>
          <a:off x="7566526" y="719667"/>
          <a:ext cx="4400884" cy="2709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8FAF7-2D77-9582-A170-A265C4EFF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74942-036B-4E5A-BCB9-A21ADA88DFCC}" type="datetime1">
              <a:rPr lang="en-IN" smtClean="0"/>
              <a:t>21-08-2026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BB503-91D9-B3E4-C3F4-8D464D749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D9C51-F3FC-AB6E-17A3-0C0454B9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66120"/>
      </p:ext>
    </p:extLst>
  </p:cSld>
  <p:clrMapOvr>
    <a:masterClrMapping/>
  </p:clrMapOvr>
  <p:transition spd="slow">
    <p:push dir="u"/>
    <p:sndAc>
      <p:stSnd>
        <p:snd r:embed="rId3" name="cl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E8E8E8"/>
            </a:gs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  <a:alpha val="34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D4B7A-E467-8D7F-7DDB-088FE69CC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17B490-4E20-22FF-2B2F-597DC7B9BE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900" y="0"/>
            <a:ext cx="34671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EE9D92-B2CA-6CA6-744F-E8A0AAA8BC56}"/>
              </a:ext>
            </a:extLst>
          </p:cNvPr>
          <p:cNvSpPr txBox="1"/>
          <p:nvPr/>
        </p:nvSpPr>
        <p:spPr>
          <a:xfrm>
            <a:off x="-275612" y="144379"/>
            <a:ext cx="65040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latin typeface="Footlight MT Light" panose="0204060206030A020304" pitchFamily="18" charset="0"/>
              </a:rPr>
              <a:t>    Conclusion </a:t>
            </a:r>
            <a:endParaRPr lang="en-IN" sz="4400" b="1" dirty="0">
              <a:latin typeface="Footlight MT Light" panose="0204060206030A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6382FB-B32C-CC8A-21B3-9A5886F64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29" y="913820"/>
            <a:ext cx="1117004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Hospital Management System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project successfully delivers a web-based platform that sim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plifies hospital operations by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🗃️ Managing patient records digitally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📅 Allowing patients to book appointments online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💳 Generating bills and tracking payments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🧑‍⚕️ Enabling doctors to access medical histories &amp; issue prescriptions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🛡️ Providing role-based access for Admin, Doctor, and Patient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8D3E18-1E02-1BF8-C02F-0A69C9F47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352" y="3582692"/>
            <a:ext cx="5833648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🌱 What I Learned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Full-stack web development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PHP, MySQL, HTML, CSS &amp; JS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Database design and normalization in MySQL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Backend logic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OOP concepts in PHP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Frontend usability with Bootstrap and interactive forms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Real-world project deployment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XAMPP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7D24C5-8088-6453-6A47-9BC070511C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8100" y="-187594"/>
            <a:ext cx="723900" cy="723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BEB1C3-DA53-46D1-21AF-02A2571EA8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407" y="1581507"/>
            <a:ext cx="3694985" cy="369498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7367C6-ED56-5F6B-6156-407E3153D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F083-8E90-456E-9D5E-4488DB214733}" type="datetime1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DAB60-B807-CBA3-8F0A-891D0CCA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Ankita | GR99306 | 26CAMSAG160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44668B-3D63-B5F9-72A6-90F653A6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52503-7472-4467-9D6E-663A4ACA34C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023644"/>
      </p:ext>
    </p:extLst>
  </p:cSld>
  <p:clrMapOvr>
    <a:masterClrMapping/>
  </p:clrMapOvr>
  <p:transition spd="slow">
    <p:wipe/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6626</TotalTime>
  <Words>392</Words>
  <Application>Microsoft Office PowerPoint</Application>
  <PresentationFormat>Widescreen</PresentationFormat>
  <Paragraphs>86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6" baseType="lpstr">
      <vt:lpstr>Arial</vt:lpstr>
      <vt:lpstr>Calibri</vt:lpstr>
      <vt:lpstr>Calibri Light</vt:lpstr>
      <vt:lpstr>Calisto MT</vt:lpstr>
      <vt:lpstr>Cambria</vt:lpstr>
      <vt:lpstr>Elephant</vt:lpstr>
      <vt:lpstr>Footlight MT Light</vt:lpstr>
      <vt:lpstr>Perpetua Titling MT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Maurya</dc:creator>
  <cp:lastModifiedBy>Ankita Maurya</cp:lastModifiedBy>
  <cp:revision>10</cp:revision>
  <dcterms:created xsi:type="dcterms:W3CDTF">2025-06-05T14:24:51Z</dcterms:created>
  <dcterms:modified xsi:type="dcterms:W3CDTF">2026-08-21T09:18:40Z</dcterms:modified>
</cp:coreProperties>
</file>